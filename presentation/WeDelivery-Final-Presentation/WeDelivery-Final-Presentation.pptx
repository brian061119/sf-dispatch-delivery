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pic>
        <p:nvPicPr>
          <p:cNvPr id="3" name="Picture 2" descr="cover_hero_1280x7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solidFill>
            <a:srgbClr val="0B1220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80975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350">
                <a:solidFill>
                  <a:srgbClr val="22D3EE"/>
                </a:solidFill>
                <a:latin typeface="Segoe UI"/>
              </a:rPr>
              <a:t>FLAG CAMP · FINAL PROJECT DEFENSE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52650"/>
            <a:ext cx="68580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700" b="1" i="0">
                <a:solidFill>
                  <a:srgbClr val="FFFFFF"/>
                </a:solidFill>
                <a:latin typeface="Segoe UI"/>
              </a:rPr>
              <a:t>WeDelivery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90900"/>
            <a:ext cx="1257300" cy="47625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00450"/>
            <a:ext cx="66675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2E8F0"/>
                </a:solidFill>
                <a:latin typeface="Segoe UI"/>
              </a:rPr>
              <a:t>AI-Powered Last-Mile Delivery Dispatch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E2E8F0"/>
                </a:solidFill>
                <a:latin typeface="Segoe UI"/>
              </a:rPr>
              <a:t>across three San Francisco hubs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76800"/>
            <a:ext cx="59055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4A3B8"/>
                </a:solidFill>
                <a:latin typeface="Segoe UI"/>
              </a:rPr>
              <a:t>Autonomous drone &amp; ground-robot dispatch — with a Gemini assistant that turns one sentence into a filled order draft.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6057900"/>
            <a:ext cx="66675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2E8F0"/>
                </a:solidFill>
                <a:latin typeface="Segoe UI"/>
              </a:rPr>
              <a:t>Flag Camp · Team 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66950" y="6096000"/>
            <a:ext cx="9525" cy="1714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19350" y="6057900"/>
            <a:ext cx="190500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October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450" y="6096000"/>
            <a:ext cx="9525" cy="1714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2850" y="6057900"/>
            <a:ext cx="4095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Spring Boot · React 19 · Gemini 1.5 Flash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The Last Mile Is the Expensive Mile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02 / 14</a:t>
            </a:r>
          </a:p>
        </p:txBody>
      </p:sp>
      <p:pic>
        <p:nvPicPr>
          <p:cNvPr id="6" name="Picture 5" descr="last_mile_680x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6477000" cy="476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67600" y="1333500"/>
            <a:ext cx="4038600" cy="876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Physics,
not averages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67600" y="2286000"/>
            <a:ext cx="40386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94A3B8"/>
                </a:solidFill>
                <a:latin typeface="Segoe UI"/>
              </a:rPr>
              <a:t>A drone carries little and flies fast; a robot hauls five times more at a third of the speed. Average them and the ETA becomes fiction.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67600" y="3543300"/>
            <a:ext cx="4038600" cy="108585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0" tIns="1333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22D3EE"/>
                </a:solidFill>
                <a:latin typeface="Segoe UI"/>
              </a:rPr>
              <a:t>AERIAL DRONE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FFFF"/>
                </a:solidFill>
                <a:latin typeface="Segoe UI"/>
              </a:rPr>
              <a:t>3 kg  </a:t>
            </a:r>
            <a:r>
              <a:rPr sz="1300">
                <a:solidFill>
                  <a:srgbClr val="94A3B8"/>
                </a:solidFill>
                <a:latin typeface="Segoe UI"/>
              </a:rPr>
              <a:t>max payload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0.05 m³ · 45 km/h · 30 min endurance · 4.0% battery/km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67600" y="3543300"/>
            <a:ext cx="38100" cy="10858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67600" y="4743450"/>
            <a:ext cx="4038600" cy="108585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0" tIns="1333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3B82F6"/>
                </a:solidFill>
                <a:latin typeface="Segoe UI"/>
              </a:rPr>
              <a:t>GROUND ROBOT</a:t>
            </a:r>
          </a:p>
          <a:p>
            <a:pPr>
              <a:spcBef>
                <a:spcPts val="400"/>
              </a:spcBef>
            </a:pPr>
            <a:r>
              <a:rPr sz="2600" b="1">
                <a:solidFill>
                  <a:srgbClr val="FFFFFF"/>
                </a:solidFill>
                <a:latin typeface="Segoe UI"/>
              </a:rPr>
              <a:t>15 kg  </a:t>
            </a:r>
            <a:r>
              <a:rPr sz="1300">
                <a:solidFill>
                  <a:srgbClr val="94A3B8"/>
                </a:solidFill>
                <a:latin typeface="Segoe UI"/>
              </a:rPr>
              <a:t>max payload</a:t>
            </a:r>
          </a:p>
          <a:p>
            <a:pPr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0.30 m³ · 15 km/h · 240 min endurance · 2.0% battery/km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67600" y="4743450"/>
            <a:ext cx="38100" cy="10858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67600" y="5981700"/>
            <a:ext cx="40386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Segoe UI"/>
              </a:rPr>
              <a:t>Three hubs: Downtown · Sunset · 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Why We Rebuilt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03 / 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333500"/>
          <a:ext cx="10820400" cy="40957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76500"/>
                <a:gridCol w="4000500"/>
                <a:gridCol w="4343400"/>
              </a:tblGrid>
              <a:tr h="585107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Dimension</a:t>
                      </a:r>
                    </a:p>
                  </a:txBody>
                  <a:tcPr marL="152400" marR="114300" marT="38100" marB="38100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2022 reference (Leluth/WeDelivery)</a:t>
                      </a:r>
                    </a:p>
                  </a:txBody>
                  <a:tcPr marL="152400" marR="114300" marT="38100" marB="38100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Segoe UI"/>
                        </a:rPr>
                        <a:t>Our rebuild</a:t>
                      </a:r>
                    </a:p>
                  </a:txBody>
                  <a:tcPr marL="152400" marR="114300" marT="38100" marB="38100" anchor="ctr">
                    <a:solidFill>
                      <a:srgbClr val="3B82F6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Backend runtime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Spring Framework on an external Tomcat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Segoe UI"/>
                        </a:rPr>
                        <a:t>Spring Boot 2.7.18 — embedded container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Frontend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Create React App (now deprecated)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Segoe UI"/>
                        </a:rPr>
                        <a:t>React 19 + Vite 6 — cold start in seconds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AWS RDS MySQL — provision it before anything boots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Segoe UI"/>
                        </a:rPr>
                        <a:t>PostgreSQL + H2 dual profile — clone and run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AI layer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Segoe UI"/>
                        </a:rPr>
                        <a:t>Gemini 1.5 Flash assistant with a schema contract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Cost to onboard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A database instance and a servlet container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Segoe UI"/>
                        </a:rPr>
                        <a:t>mvn spring-boot:run  ·  npm run dev</a:t>
                      </a:r>
                    </a:p>
                  </a:txBody>
                  <a:tcPr marL="152400" marR="114300" marT="38100" marB="38100" anchor="ctr">
                    <a:solidFill>
                      <a:srgbClr val="16243A"/>
                    </a:solidFill>
                  </a:tcPr>
                </a:tc>
              </a:tr>
              <a:tr h="585107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22D3EE"/>
                          </a:solidFill>
                          <a:latin typeface="Segoe UI"/>
                        </a:rPr>
                        <a:t>Regression safety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94A3B8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F1F5F9"/>
                          </a:solidFill>
                          <a:latin typeface="Segoe UI"/>
                        </a:rPr>
                        <a:t>144 automated tests, green on every merge</a:t>
                      </a:r>
                    </a:p>
                  </a:txBody>
                  <a:tcPr marL="152400" marR="114300" marT="38100" marB="38100" anchor="ctr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85800" y="5676900"/>
            <a:ext cx="10820400" cy="571500"/>
          </a:xfrm>
          <a:prstGeom prst="roundRect">
            <a:avLst>
              <a:gd name="adj" fmla="val 12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1F5F9"/>
                </a:solidFill>
                <a:latin typeface="Segoe UI"/>
              </a:rPr>
              <a:t>Four years is long enough for a stack to stop being runnable. That gap is the reason this project exists.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676900"/>
            <a:ext cx="38100" cy="5715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Solution · Why a Web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04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33500"/>
            <a:ext cx="2857500" cy="4914900"/>
          </a:xfrm>
          <a:prstGeom prst="roundRect">
            <a:avLst>
              <a:gd name="adj" fmla="val 4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0" tIns="3429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50">
                <a:solidFill>
                  <a:srgbClr val="22D3EE"/>
                </a:solidFill>
                <a:latin typeface="Segoe UI"/>
              </a:rPr>
              <a:t>THE SHAPE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sz="3600" b="1" i="0">
                <a:solidFill>
                  <a:srgbClr val="F1F5F9"/>
                </a:solidFill>
                <a:latin typeface="Segoe UI"/>
              </a:rPr>
              <a:t>Web
Application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33500"/>
            <a:ext cx="38100" cy="49149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2933700"/>
            <a:ext cx="571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3105150"/>
            <a:ext cx="2247900" cy="190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One codebase, every screen size, shipped as a URL.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24300" y="1333500"/>
            <a:ext cx="38100" cy="13716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33850" y="1333500"/>
            <a:ext cx="73723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1F5F9"/>
                </a:solidFill>
                <a:latin typeface="Segoe UI"/>
              </a:rPr>
              <a:t>01   Zero install, zero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3850" y="1790700"/>
            <a:ext cx="73723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4A3B8"/>
                </a:solidFill>
                <a:latin typeface="Segoe UI"/>
              </a:rPr>
              <a:t>No app-store submission, no version skew between users. A URL is the entire distribution channel: a fix ships the moment it merges.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24300" y="2971800"/>
            <a:ext cx="38100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33850" y="2971800"/>
            <a:ext cx="73723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1F5F9"/>
                </a:solidFill>
                <a:latin typeface="Segoe UI"/>
              </a:rPr>
              <a:t>02   Dispatch is information-dense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3850" y="3429000"/>
            <a:ext cx="73723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4A3B8"/>
                </a:solidFill>
                <a:latin typeface="Segoe UI"/>
              </a:rPr>
              <a:t>Comparing three delivery options while watching a fleet needs horizontal room. A laptop shows the map, the price matrix and the vehicle state at once.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24300" y="4610100"/>
            <a:ext cx="38100" cy="13716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33850" y="4610100"/>
            <a:ext cx="737235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1F5F9"/>
                </a:solidFill>
                <a:latin typeface="Segoe UI"/>
              </a:rPr>
              <a:t>03   The map is the product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3850" y="5067300"/>
            <a:ext cx="7372350" cy="990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94A3B8"/>
                </a:solidFill>
                <a:latin typeface="Segoe UI"/>
              </a:rPr>
              <a:t>Route playback on Leaflet is the moment the demo lands — and it is also the view a real operator would keep open all day.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6096000"/>
            <a:ext cx="7581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Responsive to tablet width; the tracking view is the only screen tuned for phones.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Solution · 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05 / 14</a:t>
            </a:r>
          </a:p>
        </p:txBody>
      </p:sp>
      <p:pic>
        <p:nvPicPr>
          <p:cNvPr id="6" name="Picture 5" descr="fleet_ops_1136x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10820400" cy="27813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4305300"/>
            <a:ext cx="2562225" cy="190500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5240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50">
                <a:solidFill>
                  <a:srgbClr val="3B82F6"/>
                </a:solidFill>
                <a:latin typeface="Segoe UI"/>
              </a:rPr>
              <a:t>QUOTE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Two addresses and a parcel in; three priced options out — Drone, Ground Robot or Off-Peak — built from real distance and battery math.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305300"/>
            <a:ext cx="256222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38525" y="4305300"/>
            <a:ext cx="2562225" cy="190500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5240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50">
                <a:solidFill>
                  <a:srgbClr val="3B82F6"/>
                </a:solidFill>
                <a:latin typeface="Segoe UI"/>
              </a:rPr>
              <a:t>PAY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Mock card gateway. Any card ending in 0000 fails on purpose, so the rollback path is demonstrable rather than merely claimed.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8525" y="4305300"/>
            <a:ext cx="256222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91250" y="4305300"/>
            <a:ext cx="2562225" cy="190500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5240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50">
                <a:solidFill>
                  <a:srgbClr val="3B82F6"/>
                </a:solidFill>
                <a:latin typeface="Segoe UI"/>
              </a:rPr>
              <a:t>TRACK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Live map, stage-by-stage progress and the full milestone history read straight out of tracking_events.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1250" y="4305300"/>
            <a:ext cx="2562225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943975" y="4305300"/>
            <a:ext cx="2562225" cy="1905000"/>
          </a:xfrm>
          <a:prstGeom prst="roundRect">
            <a:avLst>
              <a:gd name="adj" fmla="val 4500"/>
            </a:avLst>
          </a:prstGeom>
          <a:solidFill>
            <a:srgbClr val="1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15240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spc="150">
                <a:solidFill>
                  <a:srgbClr val="22D3EE"/>
                </a:solidFill>
                <a:latin typeface="Segoe UI"/>
              </a:rPr>
              <a:t>ASK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A Gemini assistant that reads one sentence and hands back a filled draft, a live quote, or a tracking card.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43975" y="4305300"/>
            <a:ext cx="2562225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Design ·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06 / 14</a:t>
            </a:r>
          </a:p>
        </p:txBody>
      </p:sp>
      <p:pic>
        <p:nvPicPr>
          <p:cNvPr id="6" name="Picture 5" descr="ui_register_640x5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33500"/>
            <a:ext cx="6096000" cy="49149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1333500"/>
            <a:ext cx="4419600" cy="609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React 19  ·  Vite 6  ·  Ant Design 6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2D3EE"/>
                </a:solidFill>
                <a:latin typeface="Segoe UI"/>
              </a:rPr>
              <a:t>Leaflet  ·  Zustand 5</a:t>
            </a:r>
          </a:p>
        </p:txBody>
      </p:sp>
      <p:sp>
        <p:nvSpPr>
          <p:cNvPr id="8" name="Rectangle 7"/>
          <p:cNvSpPr/>
          <p:nvPr/>
        </p:nvSpPr>
        <p:spPr>
          <a:xfrm>
            <a:off x="7086600" y="2076450"/>
            <a:ext cx="28575" cy="857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39000" y="2038350"/>
            <a:ext cx="4267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Zustand over Redux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0" y="2324100"/>
            <a:ext cx="42672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A four-step wizard plus a chat buffer is about forty lines of state. Zustand gives us that without actions, reducers and a provider tree.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86600" y="3105150"/>
            <a:ext cx="28575" cy="857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39000" y="3067050"/>
            <a:ext cx="4267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Leaflet over Google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0" y="3352800"/>
            <a:ext cx="42672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No API key, no quota, no billing surprise, and it renders on cold conference wifi. We gave up tile styling.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86600" y="4133850"/>
            <a:ext cx="28575" cy="857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39000" y="4095750"/>
            <a:ext cx="4267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One wizard store, four steps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0" y="4381500"/>
            <a:ext cx="42672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Address → parcel → options → payment all live in one store, which is exactly why the assistant can pre-fill any step.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86600" y="5162550"/>
            <a:ext cx="28575" cy="8572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9000" y="5124450"/>
            <a:ext cx="42672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Assistant above every screen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9000" y="5410200"/>
            <a:ext cx="4267200" cy="7048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Mounted once in App.jsx and hidden only on admin routes — the floating button in the screenshot is always live.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47650"/>
            <a:ext cx="4191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Design · Backend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07 / 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28750"/>
            <a:ext cx="4762500" cy="6858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220">
                <a:solidFill>
                  <a:srgbClr val="F1F5F9"/>
                </a:solidFill>
                <a:latin typeface="Segoe UI"/>
              </a:rPr>
              <a:t>CLIENT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React 19 · Vite · Leaflet · Zustand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428750"/>
            <a:ext cx="47625" cy="6858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052762" y="2114550"/>
            <a:ext cx="2857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85800" y="2247900"/>
            <a:ext cx="4762500" cy="6858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220">
                <a:solidFill>
                  <a:srgbClr val="3B82F6"/>
                </a:solidFill>
                <a:latin typeface="Segoe UI"/>
              </a:rPr>
              <a:t>CONTROLLER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REST · JWT filter · request validation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47900"/>
            <a:ext cx="47625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52762" y="2933700"/>
            <a:ext cx="2857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" y="3067050"/>
            <a:ext cx="4762500" cy="6858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220">
                <a:solidFill>
                  <a:srgbClr val="3B82F6"/>
                </a:solidFill>
                <a:latin typeface="Segoe UI"/>
              </a:rPr>
              <a:t>SERVICE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Recommendation · Order · Tracking · Simulation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067050"/>
            <a:ext cx="47625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52762" y="3752850"/>
            <a:ext cx="2857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85800" y="3886200"/>
            <a:ext cx="4762500" cy="6858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220">
                <a:solidFill>
                  <a:srgbClr val="3B82F6"/>
                </a:solidFill>
                <a:latin typeface="Segoe UI"/>
              </a:rPr>
              <a:t>PERSISTENCE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Spring Data JPA · @Transactional · row 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886200"/>
            <a:ext cx="47625" cy="6858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52762" y="4572000"/>
            <a:ext cx="28575" cy="13335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" y="4705350"/>
            <a:ext cx="4762500" cy="685800"/>
          </a:xfrm>
          <a:prstGeom prst="roundRect">
            <a:avLst>
              <a:gd name="adj" fmla="val 8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955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spc="220">
                <a:solidFill>
                  <a:srgbClr val="22D3EE"/>
                </a:solidFill>
                <a:latin typeface="Segoe UI"/>
              </a:rPr>
              <a:t>DATA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PostgreSQL (prod)  ·  H2 (dev &amp; test)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705350"/>
            <a:ext cx="47625" cy="6858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676900" y="2381250"/>
            <a:ext cx="2038350" cy="1809750"/>
          </a:xfrm>
          <a:prstGeom prst="roundRect">
            <a:avLst>
              <a:gd name="adj" fmla="val 5000"/>
            </a:avLst>
          </a:prstGeom>
          <a:solidFill>
            <a:srgbClr val="1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71450" rIns="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2D3EE"/>
                </a:solidFill>
                <a:latin typeface="Segoe UI"/>
              </a:rPr>
              <a:t>AI BRANCH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400" b="1" i="0">
                <a:solidFill>
                  <a:srgbClr val="F1F5F9"/>
                </a:solidFill>
                <a:latin typeface="Segoe UI"/>
              </a:rPr>
              <a:t>AiDeliveryService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routes 5 intents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1" i="0">
                <a:solidFill>
                  <a:srgbClr val="F1F5F9"/>
                </a:solidFill>
                <a:latin typeface="Segoe UI"/>
              </a:rPr>
              <a:t>GeminiDeliveryClient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94A3B8"/>
                </a:solidFill>
                <a:latin typeface="Segoe UI"/>
              </a:rPr>
              <a:t>JSON schema · 45 s timeout · 3 retries</a:t>
            </a:r>
          </a:p>
          <a:p>
            <a:pPr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 spc="100">
                <a:solidFill>
                  <a:srgbClr val="F87171"/>
                </a:solidFill>
                <a:latin typeface="Segoe UI"/>
              </a:rPr>
              <a:t>NO DIRECT DB ACCESS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76900" y="2381250"/>
            <a:ext cx="203835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48300" y="3186112"/>
            <a:ext cx="228600" cy="28575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05750" y="1428750"/>
            <a:ext cx="3600450" cy="1066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1F5F9"/>
                </a:solidFill>
                <a:latin typeface="Segoe UI"/>
              </a:rPr>
              <a:t>Four layers,
one direction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5750" y="257175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96250" y="2514600"/>
            <a:ext cx="34099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4A3B8"/>
                </a:solidFill>
                <a:latin typeface="Segoe UI"/>
              </a:rPr>
              <a:t>Controllers validate and authorise. They hold no business logic.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5750" y="339090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6250" y="3333750"/>
            <a:ext cx="34099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4A3B8"/>
                </a:solidFill>
                <a:latin typeface="Segoe UI"/>
              </a:rPr>
              <a:t>Services own every rule: pricing, assignment, cancellation, refunds.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5750" y="421005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6250" y="4152900"/>
            <a:ext cx="34099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4A3B8"/>
                </a:solidFill>
                <a:latin typeface="Segoe UI"/>
              </a:rPr>
              <a:t>JPA maps eight tables; PostgreSQL in production, H2 in tests.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5750" y="502920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6250" y="4972050"/>
            <a:ext cx="340995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The AI branch is read-mostly: it calls the same services a human would, and never writes on its own.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5750" y="5772150"/>
            <a:ext cx="3600450" cy="476250"/>
          </a:xfrm>
          <a:prstGeom prst="roundRect">
            <a:avLst>
              <a:gd name="adj" fmla="val 12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145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2D3EE"/>
                </a:solidFill>
                <a:latin typeface="Segoe UI"/>
              </a:rPr>
              <a:t>The model never invents a price — it calls RecommendationService.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5750" y="5772150"/>
            <a:ext cx="38100" cy="4762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08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33500"/>
            <a:ext cx="2857500" cy="4914900"/>
          </a:xfrm>
          <a:prstGeom prst="roundRect">
            <a:avLst>
              <a:gd name="adj" fmla="val 4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66700" rIns="0" tIns="3429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50">
                <a:solidFill>
                  <a:srgbClr val="22D3EE"/>
                </a:solidFill>
                <a:latin typeface="Segoe UI"/>
              </a:rPr>
              <a:t>STACK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</a:pPr>
            <a:r>
              <a:rPr sz="3600" b="1" i="0">
                <a:solidFill>
                  <a:srgbClr val="F1F5F9"/>
                </a:solidFill>
                <a:latin typeface="Segoe UI"/>
              </a:rPr>
              <a:t>What we
actually run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33500"/>
            <a:ext cx="38100" cy="49149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3009900"/>
            <a:ext cx="5715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52500" y="3181350"/>
            <a:ext cx="2247900" cy="2095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Chosen for a six-week team of five, not for a benchmark — boring where it can be, modern where it pays.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24300" y="1333500"/>
            <a:ext cx="7581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50">
                <a:solidFill>
                  <a:srgbClr val="22D3EE"/>
                </a:solidFill>
                <a:latin typeface="Segoe UI"/>
              </a:rPr>
              <a:t>BACKEND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24300" y="1619250"/>
            <a:ext cx="9620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Java 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00625" y="1619250"/>
            <a:ext cx="196215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Spring Boot 2.7.18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075" y="1619250"/>
            <a:ext cx="169545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Spring Data JPA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86825" y="1619250"/>
            <a:ext cx="123825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PostgreSQL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39375" y="1619250"/>
            <a:ext cx="91440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H2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24300" y="2152650"/>
            <a:ext cx="91440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Maven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3000" y="2152650"/>
            <a:ext cx="9620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JUnit 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29325" y="2152650"/>
            <a:ext cx="9620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MockMvc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24300" y="2990850"/>
            <a:ext cx="7581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50">
                <a:solidFill>
                  <a:srgbClr val="22D3EE"/>
                </a:solidFill>
                <a:latin typeface="Segoe UI"/>
              </a:rPr>
              <a:t>FRONTEND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24300" y="3276600"/>
            <a:ext cx="104775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React 19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6350" y="3276600"/>
            <a:ext cx="91440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Vite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15050" y="3276600"/>
            <a:ext cx="14192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Ant Design 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48575" y="3276600"/>
            <a:ext cx="9620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Leaflet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24900" y="3276600"/>
            <a:ext cx="114300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Zustand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82200" y="3276600"/>
            <a:ext cx="14192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React Router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24300" y="4114800"/>
            <a:ext cx="7581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50">
                <a:solidFill>
                  <a:srgbClr val="22D3EE"/>
                </a:solidFill>
                <a:latin typeface="Segoe UI"/>
              </a:rPr>
              <a:t>AI  &amp;  QUALITY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24300" y="4400550"/>
            <a:ext cx="178117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Gemini 1.5 Flash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19775" y="4400550"/>
            <a:ext cx="196215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Java 11 HttpClient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96225" y="4400550"/>
            <a:ext cx="9620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Jackson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72550" y="4400550"/>
            <a:ext cx="962025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Mockito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48875" y="4400550"/>
            <a:ext cx="114300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144 tests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924300" y="4933950"/>
            <a:ext cx="1695450" cy="400050"/>
          </a:xfrm>
          <a:prstGeom prst="roundRect">
            <a:avLst>
              <a:gd name="adj" fmla="val 28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H2 test profile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24300" y="6038850"/>
            <a:ext cx="75819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The AI layer added zero new Maven dependencies — HttpClient + Jackson is enough.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47650"/>
            <a:ext cx="4191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Trade-offs We Made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09 / 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333500"/>
          <a:ext cx="10820400" cy="44005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2724150"/>
                <a:gridCol w="3067050"/>
                <a:gridCol w="3352800"/>
              </a:tblGrid>
              <a:tr h="48895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Decision</a:t>
                      </a:r>
                    </a:p>
                  </a:txBody>
                  <a:tcPr marL="114300" marR="95250" marT="28575" marB="28575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we rejected</a:t>
                      </a:r>
                    </a:p>
                  </a:txBody>
                  <a:tcPr marL="114300" marR="95250" marT="28575" marB="28575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What we chose</a:t>
                      </a:r>
                    </a:p>
                  </a:txBody>
                  <a:tcPr marL="114300" marR="95250" marT="28575" marB="28575" anchor="ctr">
                    <a:solidFill>
                      <a:srgbClr val="3B82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The price we accepted</a:t>
                      </a:r>
                    </a:p>
                  </a:txBody>
                  <a:tcPr marL="114300" marR="95250" marT="28575" marB="28575" anchor="ctr">
                    <a:solidFill>
                      <a:srgbClr val="3B82F6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Route distance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Mapbox / Google Directions API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Haversine × 1.35 Manhattan correction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About 10% off real street distance — isolated behind one RouteService interface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Vehicle position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WebSocket push, or a scheduled writer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On-demand interpolation at request time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No replayable history; milestones are persisted in tracking_events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GPS source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Real GPS hardware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Math derived from elapsed time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Not a real fleet signal — but the demo runs on any machine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Payments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Stripe / PayPal sandbox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Mock gateway; card ending 0000 always fails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No real money flow; in exchange the rollback path is provable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Database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PostgreSQL only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PostgreSQL + H2 dual profile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Two dialects to keep honest — worth it for zero-setup onboarding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Maps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Google Maps GL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Leaflet + OpenStreetMap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Fewer tile styles; no key, no quota, no billing surprise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Client state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Redux Toolkit / Context API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Zustand 5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A smaller middleware ecosystem; wizard plus chat is ~40 lines</a:t>
                      </a:r>
                    </a:p>
                  </a:txBody>
                  <a:tcPr marL="114300" marR="95250" marT="28575" marB="28575" anchor="ctr">
                    <a:solidFill>
                      <a:srgbClr val="16243A"/>
                    </a:solidFill>
                  </a:tcPr>
                </a:tc>
              </a:tr>
              <a:tr h="48895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2D3EE"/>
                          </a:solidFill>
                          <a:latin typeface="Segoe UI"/>
                        </a:rPr>
                        <a:t>AI output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Function calling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F1F5F9"/>
                          </a:solidFill>
                          <a:latin typeface="Segoe UI"/>
                        </a:rPr>
                        <a:t>responseSchema JSON mode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94A3B8"/>
                          </a:solidFill>
                          <a:latin typeface="Segoe UI"/>
                        </a:rPr>
                        <a:t>No chained tool calls — fine, the model may not call tools</a:t>
                      </a:r>
                    </a:p>
                  </a:txBody>
                  <a:tcPr marL="114300" marR="95250" marT="28575" marB="28575" anchor="ctr">
                    <a:solidFill>
                      <a:srgbClr val="0B1220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85800" y="5848350"/>
            <a:ext cx="10820400" cy="400050"/>
          </a:xfrm>
          <a:prstGeom prst="roundRect">
            <a:avLst>
              <a:gd name="adj" fmla="val 16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F1F5F9"/>
                </a:solidFill>
                <a:latin typeface="Segoe UI"/>
              </a:rPr>
              <a:t>Every row has a price. That is the difference between a stack you chose and a stack you inherited.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848350"/>
            <a:ext cx="38100" cy="4000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Technical Challenge · Concurrency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10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7640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User A clicks Pay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90800"/>
            <a:ext cx="1809750" cy="552450"/>
          </a:xfrm>
          <a:prstGeom prst="roundRect">
            <a:avLst>
              <a:gd name="adj" fmla="val 14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1F5F9"/>
                </a:solidFill>
                <a:latin typeface="Segoe UI"/>
              </a:rPr>
              <a:t>User B clicks Pay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24150" y="1938338"/>
            <a:ext cx="70485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24150" y="2852738"/>
            <a:ext cx="70485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429000" y="2000250"/>
            <a:ext cx="2381250" cy="762000"/>
          </a:xfrm>
          <a:prstGeom prst="roundRect">
            <a:avLst>
              <a:gd name="adj" fmla="val 10000"/>
            </a:avLst>
          </a:prstGeom>
          <a:solidFill>
            <a:srgbClr val="123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145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2D3EE"/>
                </a:solidFill>
                <a:latin typeface="Segoe UI"/>
              </a:rPr>
              <a:t>SELECT … FOR UPDATE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row-level pessimistic lock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2000250"/>
            <a:ext cx="38100" cy="762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05338" y="2762250"/>
            <a:ext cx="28575" cy="3238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43250" y="3086100"/>
            <a:ext cx="2952750" cy="211455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0" tIns="1333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100">
                <a:solidFill>
                  <a:srgbClr val="22D3EE"/>
                </a:solidFill>
                <a:latin typeface="Segoe UI"/>
              </a:rPr>
              <a:t>@Transactional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2D3EE"/>
                </a:solidFill>
                <a:latin typeface="Segoe UI"/>
              </a:rPr>
              <a:t>(rollbackFor = Exception.class)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01  Lock the vehicle row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F1F5F9"/>
                </a:solidFill>
                <a:latin typeface="Segoe UI"/>
              </a:rPr>
              <a:t>02  Charge the card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03  Mark vehicle BUSY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F1F5F9"/>
                </a:solidFill>
                <a:latin typeface="Segoe UI"/>
              </a:rPr>
              <a:t>04  Order → PAID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05338" y="5200650"/>
            <a:ext cx="28575" cy="2857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29000" y="5486400"/>
            <a:ext cx="2381250" cy="4191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Segoe UI"/>
              </a:rPr>
              <a:t>COMMIT — all four, or 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3250" y="5924550"/>
            <a:ext cx="2952750" cy="2476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87171"/>
                </a:solidFill>
                <a:latin typeface="Segoe UI"/>
              </a:rPr>
              <a:t>card ending 0000  →  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9900" y="1333500"/>
            <a:ext cx="4686300" cy="8191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1F5F9"/>
                </a:solidFill>
                <a:latin typeface="Segoe UI"/>
              </a:rPr>
              <a:t>Two people,
one vehicle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9900" y="2209800"/>
            <a:ext cx="4686300" cy="12573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Two customers can hit Pay on the last idle drone in the same second. Without a lock both requests read the vehicle as IDLE, both charge a card, and one delivery silently loses its vehicle.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9900" y="3543300"/>
            <a:ext cx="46863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50">
                <a:solidFill>
                  <a:srgbClr val="22D3EE"/>
                </a:solidFill>
                <a:latin typeface="Segoe UI"/>
              </a:rPr>
              <a:t>HOW WE HANDLE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9900" y="379095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10400" y="3733800"/>
            <a:ext cx="4495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findByOrderNumberForUpdate takes the row lock before any state changes.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19900" y="432435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10400" y="4267200"/>
            <a:ext cx="4495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All four steps live inside one transaction boundary.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19900" y="485775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10400" y="4800600"/>
            <a:ext cx="4495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rollbackFor = Exception.class means a checked exception rolls back too.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19900" y="5391150"/>
            <a:ext cx="57150" cy="5715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10400" y="5334000"/>
            <a:ext cx="44958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4A3B8"/>
                </a:solidFill>
                <a:latin typeface="Segoe UI"/>
              </a:rPr>
              <a:t>ownsVehicle() re-checks ownership, so a stale request cannot steer a released vehicle.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19900" y="5905500"/>
            <a:ext cx="4686300" cy="342900"/>
          </a:xfrm>
          <a:prstGeom prst="roundRect">
            <a:avLst>
              <a:gd name="adj" fmla="val 20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2D3EE"/>
                </a:solidFill>
                <a:latin typeface="Segoe UI"/>
              </a:rPr>
              <a:t>0000 card fails → vehicle stays IDLE, no order created.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Technical Challenge · Virtual GPS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28750"/>
            <a:ext cx="3810000" cy="1428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50" b="1" i="0">
                <a:solidFill>
                  <a:srgbClr val="22D3EE"/>
                </a:solidFill>
                <a:latin typeface="Segoe UI"/>
              </a:rPr>
              <a:t>1,862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952750"/>
            <a:ext cx="3810000" cy="666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1F5F9"/>
                </a:solidFill>
                <a:latin typeface="Segoe UI"/>
              </a:rPr>
              <a:t>coordinate points in a single route polyline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733800"/>
            <a:ext cx="3810000" cy="76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station → pickup → drop-off → station, concatenated into one path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0" y="1390650"/>
            <a:ext cx="67437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1F5F9"/>
                </a:solidFill>
                <a:latin typeface="Segoe UI"/>
              </a:rPr>
              <a:t>Position is computed,
never received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0" y="2419350"/>
            <a:ext cx="67437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94A3B8"/>
                </a:solidFill>
                <a:latin typeface="Segoe UI"/>
              </a:rPr>
              <a:t>There is no GPS hardware. The marker is interpolated from elapsed time against the polyline, so the vehicle always sits on the road instead of cutting across city blocks.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62500" y="3486150"/>
            <a:ext cx="67437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2D3EE"/>
                </a:solidFill>
                <a:latin typeface="Segoe UI"/>
              </a:rPr>
              <a:t>MEASURED LEG SHARE ON A LIVE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62500" y="3695700"/>
            <a:ext cx="6743700" cy="666750"/>
          </a:xfrm>
          <a:prstGeom prst="roundRect">
            <a:avLst>
              <a:gd name="adj" fmla="val 6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62500" y="3695700"/>
            <a:ext cx="1375715" cy="666750"/>
          </a:xfrm>
          <a:prstGeom prst="rect">
            <a:avLst/>
          </a:prstGeom>
          <a:solidFill>
            <a:srgbClr val="3B82F6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STATION → PICKUP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E2E8F0"/>
                </a:solidFill>
                <a:latin typeface="Segoe UI"/>
              </a:rPr>
              <a:t>20.4%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38215" y="3695700"/>
            <a:ext cx="3412312" cy="666750"/>
          </a:xfrm>
          <a:prstGeom prst="rect">
            <a:avLst/>
          </a:prstGeom>
          <a:solidFill>
            <a:srgbClr val="22D3EE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PICKUP → DROP-OFF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E2E8F0"/>
                </a:solidFill>
                <a:latin typeface="Segoe UI"/>
              </a:rPr>
              <a:t>50.6%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50527" y="3695700"/>
            <a:ext cx="1955673" cy="666750"/>
          </a:xfrm>
          <a:prstGeom prst="rect">
            <a:avLst/>
          </a:prstGeom>
          <a:solidFill>
            <a:srgbClr val="1D4ED8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DROP-OFF → STATION</a:t>
            </a:r>
          </a:p>
          <a:p>
            <a:pPr algn="ctr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 i="0">
                <a:solidFill>
                  <a:srgbClr val="E2E8F0"/>
                </a:solidFill>
                <a:latin typeface="Segoe UI"/>
              </a:rPr>
              <a:t>29.0%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2500" y="4438650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0:00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8690" y="3619500"/>
            <a:ext cx="19050" cy="81915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66715" y="4438650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pickup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41002" y="3619500"/>
            <a:ext cx="19050" cy="81915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79027" y="4438650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delivered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96675" y="3619500"/>
            <a:ext cx="19050" cy="819150"/>
          </a:xfrm>
          <a:prstGeom prst="rect">
            <a:avLst/>
          </a:prstGeom>
          <a:solidFill>
            <a:srgbClr val="FFFFF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4700" y="4438650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docked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62500" y="4552950"/>
            <a:ext cx="6743700" cy="169545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2D3EE"/>
                </a:solidFill>
                <a:latin typeface="Segoe UI"/>
              </a:rPr>
              <a:t>THE BUG WE FIXED</a:t>
            </a:r>
          </a:p>
          <a:p>
            <a:pPr algn="l">
              <a:lnSpc>
                <a:spcPct val="142000"/>
              </a:lnSpc>
              <a:spcBef>
                <a:spcPts val="80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Milestone fractions were hardcoded at 0.75 / 1.0, so a vehicle was declared "back at the station" the instant it delivered — and released while still down the street.</a:t>
            </a:r>
          </a:p>
          <a:p>
            <a:pPr algn="l">
              <a:lnSpc>
                <a:spcPct val="142000"/>
              </a:lnSpc>
              <a:spcBef>
                <a:spcPts val="800"/>
              </a:spcBef>
              <a:spcAft>
                <a:spcPts val="0"/>
              </a:spcAft>
            </a:pPr>
            <a:r>
              <a:rPr sz="1100" b="1" i="0">
                <a:solidFill>
                  <a:srgbClr val="F1F5F9"/>
                </a:solidFill>
                <a:latin typeface="Segoe UI"/>
              </a:rPr>
              <a:t>TripTimeline now derives every fraction from real leg distances, so the pickup window, the delivery check and the dock release all read one source of truth.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62500" y="4552950"/>
            <a:ext cx="38100" cy="169545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Technical Challenge ·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12 /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33500"/>
            <a:ext cx="5715000" cy="4914900"/>
          </a:xfrm>
          <a:prstGeom prst="roundRect">
            <a:avLst>
              <a:gd name="adj" fmla="val 3000"/>
            </a:avLst>
          </a:prstGeom>
          <a:solidFill>
            <a:srgbClr val="1E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33500"/>
            <a:ext cx="57150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62100"/>
            <a:ext cx="53340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20">
                <a:solidFill>
                  <a:srgbClr val="22D3EE"/>
                </a:solidFill>
                <a:latin typeface="Segoe UI"/>
              </a:rPr>
              <a:t>TRACKING LOOP</a:t>
            </a:r>
          </a:p>
        </p:txBody>
      </p:sp>
      <p:sp>
        <p:nvSpPr>
          <p:cNvPr id="9" name="Rectangle 8"/>
          <p:cNvSpPr/>
          <p:nvPr/>
        </p:nvSpPr>
        <p:spPr>
          <a:xfrm rot="20307541">
            <a:off x="1143000" y="2309812"/>
            <a:ext cx="778257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4115">
            <a:off x="1866900" y="2024062"/>
            <a:ext cx="836466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0006097">
            <a:off x="2590800" y="2443162"/>
            <a:ext cx="809345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292459">
            <a:off x="3314700" y="2081212"/>
            <a:ext cx="778257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0548466">
            <a:off x="4038600" y="2366962"/>
            <a:ext cx="759137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884614">
            <a:off x="4762500" y="2138362"/>
            <a:ext cx="748546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0757825">
            <a:off x="5486400" y="2328862"/>
            <a:ext cx="549816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04900" y="228600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828800" y="200025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52700" y="241935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76600" y="205740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00500" y="234315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24400" y="211455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8300" y="230505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81700" y="2171700"/>
            <a:ext cx="76200" cy="76200"/>
          </a:xfrm>
          <a:prstGeom prst="rect">
            <a:avLst/>
          </a:prstGeom>
          <a:solidFill>
            <a:srgbClr val="1E2F49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933825" y="2276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0" y="2686050"/>
            <a:ext cx="28575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4A3B8"/>
                </a:solidFill>
                <a:latin typeface="Segoe UI"/>
              </a:rPr>
              <a:t>marker = polyline[floor(progress × 1,862)]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009900"/>
            <a:ext cx="5257800" cy="1619250"/>
          </a:xfrm>
          <a:prstGeom prst="roundRect">
            <a:avLst>
              <a:gd name="adj" fmla="val 3000"/>
            </a:avLst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90500" rIns="0" tIns="1714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4748B"/>
                </a:solidFill>
                <a:latin typeface="Consolas"/>
              </a:rPr>
              <a:t>setInterval(…, 3000)   // no socket, no writer</a:t>
            </a:r>
          </a:p>
          <a:p>
            <a:pPr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</a:pPr>
            <a:r>
              <a:rPr sz="1350" b="0" i="0">
                <a:solidFill>
                  <a:srgbClr val="22D3EE"/>
                </a:solidFill>
                <a:latin typeface="Consolas"/>
              </a:rPr>
              <a:t>const generation = get().generation;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F1F5F9"/>
                </a:solidFill>
                <a:latin typeface="Consolas"/>
              </a:rPr>
              <a:t>await send(message);</a:t>
            </a:r>
          </a:p>
          <a:p>
            <a:pPr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34D399"/>
                </a:solidFill>
                <a:latin typeface="Consolas"/>
              </a:rPr>
              <a:t>if (get().generation !== generation) return;  // stale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86300"/>
            <a:ext cx="52578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200">
                <a:solidFill>
                  <a:srgbClr val="22D3EE"/>
                </a:solidFill>
                <a:latin typeface="Segoe UI"/>
              </a:rPr>
              <a:t>WHAT THE GUARD PREVENTS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95850"/>
            <a:ext cx="5257800" cy="1352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4A3B8"/>
                </a:solidFill>
                <a:latin typeface="Segoe UI"/>
              </a:rPr>
              <a:t>Ask the assistant something, then clear the chat before it answers. Without the guard the late reply lands in a conversation that no longer exists — or in the next session. Every clear() and logout() bumps the counter, so a stale response is dropped.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1800" y="1333500"/>
            <a:ext cx="47244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1F5F9"/>
                </a:solidFill>
                <a:latin typeface="Segoe UI"/>
              </a:rPr>
              <a:t>Smooth motion
without a socket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81800" y="2495550"/>
            <a:ext cx="47244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4A3B8"/>
                </a:solidFill>
                <a:latin typeface="Segoe UI"/>
              </a:rPr>
              <a:t>The map advances by recomputing an index into the polyline every three seconds. No WebSocket, no background writer, no server-side simulation — so a tracking URL works on any device and costs one cheap query per poll.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781800" y="3848100"/>
            <a:ext cx="571500" cy="28575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1800" y="3943350"/>
            <a:ext cx="4724400" cy="952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2D3EE"/>
                </a:solidFill>
                <a:latin typeface="Segoe UI"/>
              </a:rPr>
              <a:t>The race nobody
notices until it ships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81800" y="4914900"/>
            <a:ext cx="4724400" cy="1238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4A3B8"/>
                </a:solidFill>
                <a:latin typeface="Segoe UI"/>
              </a:rPr>
              <a:t>It is the same pattern the large chat products use, and the whole fix is four lines. We ship it because the failure is invisible in testing and embarrassing in a demo.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19100"/>
            <a:ext cx="10820400" cy="647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1F5F9"/>
                </a:solidFill>
                <a:latin typeface="Segoe U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62700"/>
            <a:ext cx="47625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WeDelivery · Flag 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0" y="6362700"/>
            <a:ext cx="29337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4748B"/>
                </a:solidFill>
                <a:latin typeface="Segoe UI"/>
              </a:rPr>
              <a:t>13 / 14</a:t>
            </a:r>
          </a:p>
        </p:txBody>
      </p:sp>
      <p:pic>
        <p:nvPicPr>
          <p:cNvPr id="6" name="Picture 5" descr="demo_scene_1136x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57300"/>
            <a:ext cx="10820400" cy="2667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85800" y="4114800"/>
            <a:ext cx="3454400" cy="190500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17145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22D3EE"/>
                </a:solidFill>
                <a:latin typeface="Segoe UI"/>
              </a:rPr>
              <a:t>0:00 – 0:45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1" i="0">
                <a:solidFill>
                  <a:srgbClr val="F1F5F9"/>
                </a:solidFill>
                <a:latin typeface="Segoe UI"/>
              </a:rPr>
              <a:t>Place an order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Register, drop two addresses, compare Drone / Robot / Off-Peak, then pay. The 0000 card fails on purpose.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114800"/>
            <a:ext cx="34544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8800" y="4114800"/>
            <a:ext cx="3454400" cy="190500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17145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22D3EE"/>
                </a:solidFill>
                <a:latin typeface="Segoe UI"/>
              </a:rPr>
              <a:t>0:45 – 2:30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1" i="0">
                <a:solidFill>
                  <a:srgbClr val="F1F5F9"/>
                </a:solidFill>
                <a:latin typeface="Segoe UI"/>
              </a:rPr>
              <a:t>Watch it move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Live tracking: the marker walks the polyline and stages flip from pickup to drop-off to returning.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8800" y="4114800"/>
            <a:ext cx="34544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51800" y="4114800"/>
            <a:ext cx="3454400" cy="1905000"/>
          </a:xfrm>
          <a:prstGeom prst="roundRect">
            <a:avLst>
              <a:gd name="adj" fmla="val 45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171450" tIns="15240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spc="200">
                <a:solidFill>
                  <a:srgbClr val="22D3EE"/>
                </a:solidFill>
                <a:latin typeface="Segoe UI"/>
              </a:rPr>
              <a:t>2:30 – 4:00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</a:pPr>
            <a:r>
              <a:rPr sz="2100" b="1" i="0">
                <a:solidFill>
                  <a:srgbClr val="F1F5F9"/>
                </a:solidFill>
                <a:latin typeface="Segoe UI"/>
              </a:rPr>
              <a:t>Ask the assistant</a:t>
            </a:r>
          </a:p>
          <a:p>
            <a:pPr algn="l">
              <a:lnSpc>
                <a:spcPct val="140000"/>
              </a:lnSpc>
              <a:spcBef>
                <a:spcPts val="1000"/>
              </a:spcBef>
              <a:spcAft>
                <a:spcPts val="0"/>
              </a:spcAft>
            </a:pPr>
            <a:r>
              <a:rPr sz="1300" b="0" i="0">
                <a:solidFill>
                  <a:srgbClr val="94A3B8"/>
                </a:solidFill>
                <a:latin typeface="Segoe UI"/>
              </a:rPr>
              <a:t>One sentence in, a filled draft or a live quote back. Then the admin console with a live fleet map.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1800" y="4114800"/>
            <a:ext cx="34544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6096000"/>
            <a:ext cx="108204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4748B"/>
                </a:solidFill>
                <a:latin typeface="Segoe UI"/>
              </a:rPr>
              <a:t>Pre-recorded, not live — a four-minute walkthrough that cannot be broken by the room.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B82F6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90650"/>
            <a:ext cx="12192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spc="400">
                <a:solidFill>
                  <a:srgbClr val="22D3EE"/>
                </a:solidFill>
                <a:latin typeface="Segoe UI"/>
              </a:rPr>
              <a:t>SHIPPED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76400"/>
            <a:ext cx="12192000" cy="171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0" b="1" i="0">
                <a:solidFill>
                  <a:srgbClr val="22D3EE"/>
                </a:solidFill>
                <a:latin typeface="Segoe UI"/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48050"/>
            <a:ext cx="12192000" cy="419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1F5F9"/>
                </a:solidFill>
                <a:latin typeface="Segoe UI"/>
              </a:rPr>
              <a:t>automated tests · zero failures · reproducible on any machine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53100" y="3943350"/>
            <a:ext cx="685800" cy="381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0" y="4076700"/>
            <a:ext cx="1219200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Segoe UI"/>
              </a:rPr>
              <a:t>A stack we chose — and can defend line by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876800"/>
            <a:ext cx="3454400" cy="121920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171450" tIns="1714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Next: real routing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050" b="0" i="0">
                <a:solidFill>
                  <a:srgbClr val="94A3B8"/>
                </a:solidFill>
                <a:latin typeface="Segoe UI"/>
              </a:rPr>
              <a:t>Swap the Haversine estimate for a road-network API behind the RouteService interface that already exists.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76800"/>
            <a:ext cx="38100" cy="1219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68800" y="4876800"/>
            <a:ext cx="3454400" cy="121920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171450" tIns="1714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Next: push tracking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150" b="0" i="0">
                <a:solidFill>
                  <a:srgbClr val="94A3B8"/>
                </a:solidFill>
                <a:latin typeface="Segoe UI"/>
              </a:rPr>
              <a:t>Replace three-second polling with WebSocket push once we need sub-second fleet telemetry.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68800" y="4876800"/>
            <a:ext cx="38100" cy="1219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51800" y="4876800"/>
            <a:ext cx="3454400" cy="1219200"/>
          </a:xfrm>
          <a:prstGeom prst="roundRect">
            <a:avLst>
              <a:gd name="adj" fmla="val 5000"/>
            </a:avLst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9550" rIns="171450" tIns="17145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1F5F9"/>
                </a:solidFill>
                <a:latin typeface="Segoe UI"/>
              </a:rPr>
              <a:t>Next: guard the AI bill</a:t>
            </a:r>
          </a:p>
          <a:p>
            <a:pPr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</a:pPr>
            <a:r>
              <a:rPr sz="1200" b="0" i="0">
                <a:solidFill>
                  <a:srgbClr val="94A3B8"/>
                </a:solidFill>
                <a:latin typeface="Segoe UI"/>
              </a:rPr>
              <a:t>Add per-user rate limiting on the AI endpoints — authenticated today, but not throttled.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800" y="4876800"/>
            <a:ext cx="38100" cy="12192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0" y="6324600"/>
            <a:ext cx="12192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64748B"/>
                </a:solidFill>
                <a:latin typeface="Segoe UI"/>
              </a:rPr>
              <a:t>Thank you  ·  Flag Camp Team 03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